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2564" autoAdjust="0"/>
  </p:normalViewPr>
  <p:slideViewPr>
    <p:cSldViewPr snapToGrid="0">
      <p:cViewPr>
        <p:scale>
          <a:sx n="125" d="100"/>
          <a:sy n="125" d="100"/>
        </p:scale>
        <p:origin x="209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23AB4A5-C67E-CC41-F20F-FD5ED874F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9F4AAD3-29A0-7197-DA3B-CB9B721458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65F6E-A2C9-410A-A5EB-A76BD42BBFC6}" type="datetimeFigureOut">
              <a:rPr lang="it-IT" smtClean="0"/>
              <a:t>27/09/2026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66B671-53E1-501C-251E-567C6817C6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1C3D92-E7E5-EC23-9CF1-542DDC77CC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1FF46-82C6-4D32-8140-AD814714C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99628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4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822433"/>
                </a:solidFill>
                <a:latin typeface="Arial"/>
              </a:rPr>
              <a:t>Click to move the slide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78D4F56-A456-477A-A1D0-8C7852122700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‹N›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7FDEE61-C829-4B91-8062-818E7B87B943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E4C6327-90F4-42BF-B572-BFAD835058C6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2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6DBD153-3985-4552-8995-A3B77016E996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3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A210D40-7335-4F61-956B-77900DA2B032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4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endParaRPr u="sng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017D004-AB3A-4028-9289-1545C2933354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5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B9C6F31-ECE5-44E7-A9D6-34F78C0EA095}" type="slidenum">
              <a:rPr lang="it-IT" sz="1200" b="0" strike="noStrike" spc="-1">
                <a:solidFill>
                  <a:srgbClr val="000000"/>
                </a:solidFill>
                <a:latin typeface="Arial"/>
              </a:rPr>
              <a:t>6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BDBC5F-8601-4402-856A-B5380266D070}" type="slidenum">
              <a:t>‹N›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6095880"/>
            <a:ext cx="9144000" cy="762120"/>
            <a:chOff x="0" y="6095880"/>
            <a:chExt cx="9144000" cy="762120"/>
          </a:xfrm>
        </p:grpSpPr>
        <p:sp>
          <p:nvSpPr>
            <p:cNvPr id="9" name="Rectangle 13"/>
            <p:cNvSpPr/>
            <p:nvPr/>
          </p:nvSpPr>
          <p:spPr>
            <a:xfrm>
              <a:off x="0" y="6324480"/>
              <a:ext cx="9144000" cy="533520"/>
            </a:xfrm>
            <a:prstGeom prst="rect">
              <a:avLst/>
            </a:prstGeom>
            <a:solidFill>
              <a:srgbClr val="8224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endParaRPr lang="en-US" sz="9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" name="Rectangle 14"/>
            <p:cNvSpPr/>
            <p:nvPr/>
          </p:nvSpPr>
          <p:spPr>
            <a:xfrm>
              <a:off x="1219320" y="6095880"/>
              <a:ext cx="7924680" cy="762120"/>
            </a:xfrm>
            <a:prstGeom prst="rect">
              <a:avLst/>
            </a:prstGeom>
            <a:solidFill>
              <a:srgbClr val="8224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endParaRPr lang="en-US" sz="9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115640" y="409680"/>
            <a:ext cx="7559640" cy="581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822433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115640" y="1752480"/>
            <a:ext cx="755964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601"/>
              </a:spcBef>
              <a:buClr>
                <a:srgbClr val="822433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562040" lvl="3" indent="-22860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1981080" lvl="4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1981080" lvl="5" indent="-228600">
              <a:spcBef>
                <a:spcPts val="601"/>
              </a:spcBef>
              <a:buClr>
                <a:srgbClr val="822433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1981080" lvl="6" indent="-228600">
              <a:spcBef>
                <a:spcPts val="601"/>
              </a:spcBef>
              <a:buClr>
                <a:srgbClr val="822433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343400" y="6148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1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1218960" y="614844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1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it-IT"/>
              <a:t>Footer</a:t>
            </a:r>
            <a:endParaRPr/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3080" y="6148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1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r>
              <a:t>Slide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2243160" y="794880"/>
            <a:ext cx="613872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" name="Group 33"/>
          <p:cNvGrpSpPr/>
          <p:nvPr/>
        </p:nvGrpSpPr>
        <p:grpSpPr>
          <a:xfrm>
            <a:off x="-9360" y="0"/>
            <a:ext cx="9153360" cy="6858000"/>
            <a:chOff x="-9360" y="0"/>
            <a:chExt cx="9153360" cy="6858000"/>
          </a:xfrm>
        </p:grpSpPr>
        <p:sp>
          <p:nvSpPr>
            <p:cNvPr id="17" name="Rectangle 11"/>
            <p:cNvSpPr/>
            <p:nvPr/>
          </p:nvSpPr>
          <p:spPr>
            <a:xfrm>
              <a:off x="-9360" y="0"/>
              <a:ext cx="9144000" cy="3429000"/>
            </a:xfrm>
            <a:prstGeom prst="rect">
              <a:avLst/>
            </a:prstGeom>
            <a:solidFill>
              <a:srgbClr val="C0CED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9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" name="Picture 32"/>
            <p:cNvPicPr/>
            <p:nvPr/>
          </p:nvPicPr>
          <p:blipFill>
            <a:blip r:embed="rId3"/>
            <a:stretch/>
          </p:blipFill>
          <p:spPr>
            <a:xfrm>
              <a:off x="0" y="2743200"/>
              <a:ext cx="9144000" cy="4114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" name="TextBox 18"/>
          <p:cNvSpPr txBox="1"/>
          <p:nvPr/>
        </p:nvSpPr>
        <p:spPr>
          <a:xfrm>
            <a:off x="2249424" y="438912"/>
            <a:ext cx="605332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Mini Threat Intelligence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Data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9424" y="245059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Valerio Montagliani  |  Student ID 1759418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393192"/>
            <a:ext cx="7635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7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An end-to-end data warehousing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208776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Mini TI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208776"/>
            <a:ext cx="24688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Valerio Montagliani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6208776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7498079" cy="833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52C35"/>
                </a:solidFill>
                <a:latin typeface="Arial"/>
              </a:defRPr>
            </a:pPr>
            <a:r>
              <a:rPr lang="en-US" dirty="0"/>
              <a:t>Integrate threat intelligence feeds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52C35"/>
                </a:solidFill>
                <a:latin typeface="Arial"/>
              </a:defRPr>
            </a:pPr>
            <a:r>
              <a:rPr lang="en-US" dirty="0"/>
              <a:t>for local SQL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679192"/>
            <a:ext cx="2404872" cy="1133856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834640"/>
            <a:ext cx="21122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2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3310128"/>
            <a:ext cx="21122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URLhaus + ThreatFox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584" y="2679192"/>
            <a:ext cx="2404872" cy="1133856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2834640"/>
            <a:ext cx="21122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3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310128"/>
            <a:ext cx="21122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URL · domain ·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679192"/>
            <a:ext cx="2404872" cy="1133856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5352" y="2834640"/>
            <a:ext cx="21122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1 data mart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310128"/>
            <a:ext cx="211226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Observation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61104"/>
            <a:ext cx="75438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ACQUIRE  →  RECONCILE  →  MODEL  → 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55464"/>
            <a:ext cx="7498079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Preserve source records · Apply common rules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Load a dimensional model · Run OLAP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393192"/>
            <a:ext cx="7635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7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Motivation and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Different formats and coverage; one analytical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208776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Mini TI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208776"/>
            <a:ext cx="24688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Valerio Montagliani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6208776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3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673352"/>
            <a:ext cx="3657600" cy="2148840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1865376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URLhaus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532888"/>
            <a:ext cx="324612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CSV feed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Malicious URLs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Status, tags and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673352"/>
            <a:ext cx="3657600" cy="2148840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488" y="1865376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ThreatFox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532888"/>
            <a:ext cx="324612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JSON API + authentication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Multiple indicator types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Recent records: 1–7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2"/>
            <a:ext cx="7543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Project scope: URLs, domains and IP addresses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Hash indicators are excluded during reconciliation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065776"/>
            <a:ext cx="7543800" cy="585216"/>
          </a:xfrm>
          <a:prstGeom prst="rect">
            <a:avLst/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5193792"/>
            <a:ext cx="71963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2C35"/>
                </a:solidFill>
                <a:latin typeface="Arial"/>
              </a:defRPr>
            </a:pPr>
            <a:r>
              <a:rPr lang="en-US"/>
              <a:t>Reconcile once; analyze locally on the collected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393192"/>
            <a:ext cx="7635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7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Python ETL + PostgreSQL relational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208776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Mini TI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208776"/>
            <a:ext cx="24688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Valerio Montagliani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6208776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4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581912"/>
            <a:ext cx="594360" cy="978408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181965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581912"/>
            <a:ext cx="6949440" cy="978408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3936" y="1673352"/>
            <a:ext cx="6473952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Raw 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3936" y="2048256"/>
            <a:ext cx="6473952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Source-specific tables · Original records + ingest metadata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Append-only storage for traceability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770632"/>
            <a:ext cx="594360" cy="978408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" y="300837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770632"/>
            <a:ext cx="6949440" cy="978408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2862072"/>
            <a:ext cx="6473952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Canonical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936" y="3236976"/>
            <a:ext cx="6473952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Common fields · Supported types · Conservative normalization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Deduplication: source + type + value + event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959352"/>
            <a:ext cx="594360" cy="978408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419709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959352"/>
            <a:ext cx="6949440" cy="978408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73936" y="4050791"/>
            <a:ext cx="6473952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Dimensional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4425696"/>
            <a:ext cx="6473952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Dimension tables + observation fact + tag bridge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Upserts and unique keys prevent duplicate fact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0410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2C35"/>
                </a:solidFill>
                <a:latin typeface="Arial"/>
              </a:defRPr>
            </a:pPr>
            <a:r>
              <a:rPr lang="en-US"/>
              <a:t>URLhaus / ThreatFox  →  raw  →  canonical  →  DW  → 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393192"/>
            <a:ext cx="7635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7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Conceptual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DFM: grain, measures and dimensional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208776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Mini TI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208776"/>
            <a:ext cx="24688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Valerio Montagliani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6208776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5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481328"/>
            <a:ext cx="7543800" cy="603504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627632"/>
            <a:ext cx="72237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Grain: indicator (type + value) × source × event day</a:t>
            </a:r>
          </a:p>
        </p:txBody>
      </p:sp>
      <p:pic>
        <p:nvPicPr>
          <p:cNvPr id="42" name="Segnaposto contenuto 3">
            <a:extLst>
              <a:ext uri="{FF2B5EF4-FFF2-40B4-BE49-F238E27FC236}">
                <a16:creationId xmlns:a16="http://schemas.microsoft.com/office/drawing/2014/main" id="{D2B00576-9950-689A-2E90-715BDBAE93A5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115" y="2231136"/>
            <a:ext cx="5252358" cy="34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393192"/>
            <a:ext cx="7635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7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Star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Implemented PostgreSQL tables and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208776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Mini TI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208776"/>
            <a:ext cx="24688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Valerio Montagliani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6208776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6 / 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81528" y="2112264"/>
            <a:ext cx="448056" cy="1088136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81528" y="3364992"/>
            <a:ext cx="448056" cy="201168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81528" y="3931920"/>
            <a:ext cx="448056" cy="685800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843016" y="2414016"/>
            <a:ext cx="594360" cy="877824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43016" y="3694176"/>
            <a:ext cx="594360" cy="192024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4498848"/>
            <a:ext cx="950976" cy="621792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23760" y="2432304"/>
            <a:ext cx="0" cy="950976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49039" y="5257800"/>
            <a:ext cx="2688337" cy="0"/>
          </a:xfrm>
          <a:prstGeom prst="line">
            <a:avLst/>
          </a:prstGeom>
          <a:ln w="19050">
            <a:solidFill>
              <a:srgbClr val="BCC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1636776"/>
            <a:ext cx="2121408" cy="969264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1709928"/>
            <a:ext cx="193852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dim_time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075688"/>
            <a:ext cx="190195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day · month ·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889504"/>
            <a:ext cx="2121408" cy="969264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2962656"/>
            <a:ext cx="193852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dim_source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328416"/>
            <a:ext cx="190195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URLhaus · ThreatFox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142232"/>
            <a:ext cx="2121408" cy="969264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215384"/>
            <a:ext cx="193852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dim_status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190195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online · offline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unknown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2468880"/>
            <a:ext cx="2313432" cy="2029968"/>
          </a:xfrm>
          <a:prstGeom prst="roundRect">
            <a:avLst>
              <a:gd name="adj" fmla="val 8000"/>
            </a:avLst>
          </a:prstGeom>
          <a:solidFill>
            <a:srgbClr val="822433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21024" y="2542032"/>
            <a:ext cx="2130551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 lang="en-US"/>
              <a:t>fact_observation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2907792"/>
            <a:ext cx="209397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Dimension keys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canonical_id (unique)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obs_count = 1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is_online (nullable)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636776"/>
            <a:ext cx="2377440" cy="1042415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70992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dim_indicator_type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075688"/>
            <a:ext cx="2157984" cy="585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url · domain · 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118104"/>
            <a:ext cx="2377440" cy="1124712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319125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dim_indicator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557016"/>
            <a:ext cx="2157984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value · type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domain · TLD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68172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75488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250" b="1">
                <a:solidFill>
                  <a:srgbClr val="822433"/>
                </a:solidFill>
                <a:latin typeface="Arial"/>
              </a:defRPr>
            </a:pPr>
            <a:r>
              <a:rPr lang="en-US"/>
              <a:t>bridge_observation_tag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512064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observation_id + tag_id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39" y="4809744"/>
            <a:ext cx="1929384" cy="786384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 w="12700">
            <a:solidFill>
              <a:srgbClr val="BC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79" y="4882896"/>
            <a:ext cx="17465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dim_tag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5248656"/>
            <a:ext cx="1709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52C35"/>
                </a:solidFill>
                <a:latin typeface="Arial"/>
              </a:defRPr>
            </a:pPr>
            <a:r>
              <a:rPr lang="en-US"/>
              <a:t>tag_name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724144"/>
            <a:ext cx="7543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rPr lang="en-US" dirty="0"/>
              <a:t>Tags are many-to-many: avoid counting a fact again for each joined tag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393192"/>
            <a:ext cx="76352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7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OLAP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932688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From analytical questions to SQL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208776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Mini TI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208776"/>
            <a:ext cx="24688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/>
              <a:t>Valerio Montagliani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6208776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545336"/>
            <a:ext cx="7543800" cy="804672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691639"/>
            <a:ext cx="20756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MONTHLY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1655064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2C35"/>
                </a:solidFill>
                <a:latin typeface="Arial"/>
              </a:defRPr>
            </a:pPr>
            <a:r>
              <a:rPr lang="en-US"/>
              <a:t>How do volumes change over time?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011680"/>
            <a:ext cx="5047488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Roll up day → month; SUM(obs_count) by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478024"/>
            <a:ext cx="7543800" cy="804672"/>
          </a:xfrm>
          <a:prstGeom prst="rect">
            <a:avLst/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624328"/>
            <a:ext cx="20756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SOURCE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58775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2C35"/>
                </a:solidFill>
                <a:latin typeface="Arial"/>
              </a:defRPr>
            </a:pPr>
            <a:r>
              <a:rPr lang="en-US"/>
              <a:t>Which types does each source report?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944368"/>
            <a:ext cx="5047488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Source + type; counts and within-source percentages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410712"/>
            <a:ext cx="7543800" cy="804672"/>
          </a:xfrm>
          <a:prstGeom prst="rect">
            <a:avLst/>
          </a:prstGeom>
          <a:solidFill>
            <a:srgbClr val="F5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557016"/>
            <a:ext cx="20756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CROSS-SOURCE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520440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2C35"/>
                </a:solidFill>
                <a:latin typeface="Arial"/>
              </a:defRPr>
            </a:pPr>
            <a:r>
              <a:rPr lang="en-US"/>
              <a:t>Which indicators occur in both sources?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877056"/>
            <a:ext cx="5047488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Exact (type, value) matches; top common indicators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343400"/>
            <a:ext cx="7543800" cy="804672"/>
          </a:xfrm>
          <a:prstGeom prst="rect">
            <a:avLst/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" y="4489704"/>
            <a:ext cx="207568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822433"/>
                </a:solidFill>
                <a:latin typeface="Arial"/>
              </a:defRPr>
            </a:pPr>
            <a:r>
              <a:rPr lang="en-US"/>
              <a:t>TOP TLDs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4453128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2C35"/>
                </a:solidFill>
                <a:latin typeface="Arial"/>
              </a:defRPr>
            </a:pPr>
            <a:r>
              <a:rPr lang="en-US"/>
              <a:t>Which TLDs are most frequent?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4809744"/>
            <a:ext cx="5047488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rPr lang="en-US"/>
              <a:t>Rank the top 10 per source; exclude missing TLDs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477256"/>
            <a:ext cx="7543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822433"/>
                </a:solidFill>
                <a:latin typeface="Arial"/>
              </a:defRPr>
            </a:pPr>
            <a:r>
              <a:rPr lang="en-US" dirty="0"/>
              <a:t>Measure: collected feed observations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e397fc-1581-4f20-a09a-f1b2dd53ab2e}" enabled="1" method="Privileged" siteId="{6815f468-021c-48f2-a6b2-d65c8e979df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</TotalTime>
  <Words>470</Words>
  <Application>Microsoft Office PowerPoint</Application>
  <PresentationFormat>Presentazione su schermo (4:3)</PresentationFormat>
  <Paragraphs>110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Threat Intelligence Data Warehouse</dc:title>
  <dc:subject>URLhaus + ThreatFox: from raw records to OLAP analysis</dc:subject>
  <dc:creator>Valerio Montagliani</dc:creator>
  <cp:keywords>Threat intelligence, data warehouse, PostgreSQL, OLAP, URLhaus, ThreatFox</cp:keywords>
  <dc:description>English presentation with speaker notes; target duration 5–7 minutes</dc:description>
  <cp:lastModifiedBy>Montagliani Valerio</cp:lastModifiedBy>
  <cp:revision>55</cp:revision>
  <cp:lastPrinted>2006-11-30T16:19:40Z</cp:lastPrinted>
  <dcterms:created xsi:type="dcterms:W3CDTF">2006-11-20T18:13:10Z</dcterms:created>
  <dcterms:modified xsi:type="dcterms:W3CDTF">2026-09-27T21:44:28Z</dcterms:modified>
  <dc:language>en-US</dc:language>
</cp:coreProperties>
</file>